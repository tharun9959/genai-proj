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View from inside a stone structure, looking out towards stairs and a clear, blue sky"/>
          <p:cNvSpPr/>
          <p:nvPr>
            <p:ph type="pic" idx="21"/>
          </p:nvPr>
        </p:nvSpPr>
        <p:spPr>
          <a:xfrm>
            <a:off x="0" y="-1270000"/>
            <a:ext cx="24384000" cy="16272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 modern white building with glass panels against a clear, blue sky"/>
          <p:cNvSpPr/>
          <p:nvPr>
            <p:ph type="pic" idx="21"/>
          </p:nvPr>
        </p:nvSpPr>
        <p:spPr>
          <a:xfrm>
            <a:off x="92710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Small section of a modern shell bridge in Qingdao, Shandong, China with a partly cloudy sky above"/>
          <p:cNvSpPr/>
          <p:nvPr>
            <p:ph type="pic" idx="22"/>
          </p:nvPr>
        </p:nvSpPr>
        <p:spPr>
          <a:xfrm>
            <a:off x="9271000" y="1263848"/>
            <a:ext cx="16773843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Low-angle exterior view of a modern building facade covered with aluminium discs under a clear, blue sky"/>
          <p:cNvSpPr/>
          <p:nvPr>
            <p:ph type="pic" sz="quarter" idx="21"/>
          </p:nvPr>
        </p:nvSpPr>
        <p:spPr>
          <a:xfrm>
            <a:off x="15417800" y="1270000"/>
            <a:ext cx="8144934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Low-angle view of a modern, curved building under a cloudy sky"/>
          <p:cNvSpPr/>
          <p:nvPr>
            <p:ph type="pic" sz="quarter" idx="22"/>
          </p:nvPr>
        </p:nvSpPr>
        <p:spPr>
          <a:xfrm>
            <a:off x="15443200" y="7086600"/>
            <a:ext cx="8138580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View from inside a modern white building with glass panels, looking up to a bright, partly cloudy sky"/>
          <p:cNvSpPr/>
          <p:nvPr>
            <p:ph type="pic" idx="23"/>
          </p:nvPr>
        </p:nvSpPr>
        <p:spPr>
          <a:xfrm>
            <a:off x="-124635" y="1270000"/>
            <a:ext cx="16840169" cy="1124371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Low-angle view of the Azadi Tower in Tehran, Iran against a clear, bright sky"/>
          <p:cNvSpPr/>
          <p:nvPr>
            <p:ph type="pic" idx="21"/>
          </p:nvPr>
        </p:nvSpPr>
        <p:spPr>
          <a:xfrm>
            <a:off x="0" y="-1282700"/>
            <a:ext cx="24384000" cy="16281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ummai - Business summarisation"/>
          <p:cNvSpPr txBox="1"/>
          <p:nvPr>
            <p:ph type="ctrTitle"/>
          </p:nvPr>
        </p:nvSpPr>
        <p:spPr>
          <a:xfrm>
            <a:off x="637773" y="2172145"/>
            <a:ext cx="21971004" cy="4648201"/>
          </a:xfrm>
          <a:prstGeom prst="rect">
            <a:avLst/>
          </a:prstGeom>
        </p:spPr>
        <p:txBody>
          <a:bodyPr/>
          <a:lstStyle>
            <a:lvl1pPr>
              <a:defRPr spc="-180" sz="9000"/>
            </a:lvl1pPr>
          </a:lstStyle>
          <a:p>
            <a:pPr/>
            <a:r>
              <a:t>Summai - Business summarisation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roup Members…"/>
          <p:cNvSpPr txBox="1"/>
          <p:nvPr/>
        </p:nvSpPr>
        <p:spPr>
          <a:xfrm>
            <a:off x="2192221" y="2831591"/>
            <a:ext cx="9447039" cy="59201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2700">
              <a:lnSpc>
                <a:spcPct val="135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5000">
                <a:solidFill>
                  <a:srgbClr val="111111"/>
                </a:solidFill>
                <a:latin typeface="Lucida Grande"/>
                <a:ea typeface="Lucida Grande"/>
                <a:cs typeface="Lucida Grande"/>
                <a:sym typeface="Lucida Grande"/>
              </a:defRPr>
            </a:pPr>
            <a:r>
              <a:t>Group Members</a:t>
            </a:r>
          </a:p>
          <a:p>
            <a:pPr defTabSz="12700">
              <a:lnSpc>
                <a:spcPct val="135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3000">
                <a:solidFill>
                  <a:srgbClr val="111111"/>
                </a:solidFill>
                <a:latin typeface="Lucida Grande"/>
                <a:ea typeface="Lucida Grande"/>
                <a:cs typeface="Lucida Grande"/>
                <a:sym typeface="Lucida Grande"/>
              </a:defRPr>
            </a:pPr>
          </a:p>
          <a:p>
            <a:pPr defTabSz="12700">
              <a:lnSpc>
                <a:spcPct val="135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3000">
                <a:solidFill>
                  <a:srgbClr val="111111"/>
                </a:solidFill>
                <a:latin typeface="Lucida Grande"/>
                <a:ea typeface="Lucida Grande"/>
                <a:cs typeface="Lucida Grande"/>
                <a:sym typeface="Lucida Grande"/>
              </a:defRPr>
            </a:pPr>
            <a:endParaRPr b="0"/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tabLst>
                <a:tab pos="63500" algn="r"/>
                <a:tab pos="165100" algn="l"/>
              </a:tabLst>
              <a:defRPr sz="3000">
                <a:solidFill>
                  <a:srgbClr val="111111"/>
                </a:solidFill>
                <a:latin typeface="Lucida Grande"/>
                <a:ea typeface="Lucida Grande"/>
                <a:cs typeface="Lucida Grande"/>
                <a:sym typeface="Lucida Grande"/>
              </a:defRPr>
            </a:pPr>
            <a:r>
              <a:t>	•	Member 1: Krishnasai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tabLst>
                <a:tab pos="63500" algn="r"/>
                <a:tab pos="165100" algn="l"/>
              </a:tabLst>
              <a:defRPr sz="3000">
                <a:solidFill>
                  <a:srgbClr val="111111"/>
                </a:solidFill>
                <a:latin typeface="Lucida Grande"/>
                <a:ea typeface="Lucida Grande"/>
                <a:cs typeface="Lucida Grande"/>
                <a:sym typeface="Lucida Grande"/>
              </a:defRPr>
            </a:pPr>
            <a:r>
              <a:t>	•	Member 2: Aashish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tabLst>
                <a:tab pos="63500" algn="r"/>
                <a:tab pos="165100" algn="l"/>
              </a:tabLst>
              <a:defRPr sz="3000">
                <a:solidFill>
                  <a:srgbClr val="111111"/>
                </a:solidFill>
                <a:latin typeface="Lucida Grande"/>
                <a:ea typeface="Lucida Grande"/>
                <a:cs typeface="Lucida Grande"/>
                <a:sym typeface="Lucida Grande"/>
              </a:defRPr>
            </a:pPr>
            <a:r>
              <a:t>	•	Member 3: Hemachandu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tabLst>
                <a:tab pos="63500" algn="r"/>
                <a:tab pos="165100" algn="l"/>
              </a:tabLst>
              <a:defRPr sz="3000">
                <a:solidFill>
                  <a:srgbClr val="111111"/>
                </a:solidFill>
                <a:latin typeface="Lucida Grande"/>
                <a:ea typeface="Lucida Grande"/>
                <a:cs typeface="Lucida Grande"/>
                <a:sym typeface="Lucida Grande"/>
              </a:defRPr>
            </a:pPr>
            <a:r>
              <a:t>	•	Member 4: Tharun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tabLst>
                <a:tab pos="63500" algn="r"/>
                <a:tab pos="165100" algn="l"/>
              </a:tabLst>
              <a:defRPr sz="3000">
                <a:solidFill>
                  <a:srgbClr val="111111"/>
                </a:solidFill>
                <a:latin typeface="Lucida Grande"/>
                <a:ea typeface="Lucida Grande"/>
                <a:cs typeface="Lucida Grande"/>
                <a:sym typeface="Lucida Grande"/>
              </a:defRPr>
            </a:pPr>
            <a:r>
              <a:t>•Member 5: Rishik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roblem Statement…"/>
          <p:cNvSpPr txBox="1"/>
          <p:nvPr/>
        </p:nvSpPr>
        <p:spPr>
          <a:xfrm>
            <a:off x="781886" y="1514703"/>
            <a:ext cx="20927569" cy="10686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b="1" sz="4000"/>
            </a:pPr>
            <a:r>
              <a:t>Problem Statement</a:t>
            </a:r>
          </a:p>
          <a:p>
            <a:pPr>
              <a:defRPr sz="3000"/>
            </a:pPr>
          </a:p>
          <a:p>
            <a:pPr>
              <a:defRPr sz="3000"/>
            </a:pPr>
            <a:r>
              <a:t>Business documents such as reports, meeting transcripts, and policies are lengthy, complex, and time-consuming to read.</a:t>
            </a:r>
          </a:p>
          <a:p>
            <a:pPr>
              <a:defRPr sz="3000"/>
            </a:pPr>
            <a:r>
              <a:t>Manually analyzing content leads to reduced efficiency, information overload, and decision delays.</a:t>
            </a:r>
          </a:p>
          <a:p>
            <a:pPr>
              <a:defRPr sz="3000"/>
            </a:pPr>
          </a:p>
          <a:p>
            <a:pPr>
              <a:defRPr b="1" sz="4000"/>
            </a:pPr>
            <a:r>
              <a:t>Objectives</a:t>
            </a:r>
          </a:p>
          <a:p>
            <a:pPr>
              <a:defRPr sz="3000"/>
            </a:pPr>
            <a:r>
              <a:t>	•Automatically summarize long business documents</a:t>
            </a:r>
          </a:p>
          <a:p>
            <a:pPr>
              <a:defRPr sz="3000"/>
            </a:pPr>
            <a:r>
              <a:t>	•Extract key insights and important terms</a:t>
            </a:r>
          </a:p>
          <a:p>
            <a:pPr>
              <a:defRPr sz="3000"/>
            </a:pPr>
            <a:r>
              <a:t>	•Measure text readability and complexity</a:t>
            </a:r>
          </a:p>
          <a:p>
            <a:pPr>
              <a:defRPr sz="3000"/>
            </a:pPr>
            <a:r>
              <a:t>	•Provide fast, accurate, and actionable output</a:t>
            </a:r>
          </a:p>
          <a:p>
            <a:pPr>
              <a:defRPr sz="3000"/>
            </a:pPr>
            <a:r>
              <a:t>	•Track system usage and performance metrics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Objectives"/>
          <p:cNvSpPr txBox="1"/>
          <p:nvPr>
            <p:ph type="title"/>
          </p:nvPr>
        </p:nvSpPr>
        <p:spPr>
          <a:xfrm>
            <a:off x="1206500" y="1506042"/>
            <a:ext cx="21971000" cy="1433163"/>
          </a:xfrm>
          <a:prstGeom prst="rect">
            <a:avLst/>
          </a:prstGeom>
        </p:spPr>
        <p:txBody>
          <a:bodyPr/>
          <a:lstStyle>
            <a:lvl1pPr>
              <a:defRPr spc="-159" sz="8000"/>
            </a:lvl1pPr>
          </a:lstStyle>
          <a:p>
            <a:pPr/>
            <a:r>
              <a:t>Objectives</a:t>
            </a:r>
          </a:p>
        </p:txBody>
      </p:sp>
      <p:sp>
        <p:nvSpPr>
          <p:cNvPr id="178" name="• Develop an AI-based system to automatically summarize business text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000">
                <a:solidFill>
                  <a:srgbClr val="111111"/>
                </a:solidFill>
                <a:latin typeface="Geneva"/>
                <a:ea typeface="Geneva"/>
                <a:cs typeface="Geneva"/>
                <a:sym typeface="Geneva"/>
              </a:defRPr>
            </a:pPr>
            <a:r>
              <a:t>	•	Develop an AI-based system to automatically summarize business texts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000">
                <a:solidFill>
                  <a:srgbClr val="111111"/>
                </a:solidFill>
                <a:latin typeface="Geneva"/>
                <a:ea typeface="Geneva"/>
                <a:cs typeface="Geneva"/>
                <a:sym typeface="Geneva"/>
              </a:defRPr>
            </a:pPr>
            <a:r>
              <a:t>	•	Reduce time spent on reading long documents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000">
                <a:solidFill>
                  <a:srgbClr val="111111"/>
                </a:solidFill>
                <a:latin typeface="Geneva"/>
                <a:ea typeface="Geneva"/>
                <a:cs typeface="Geneva"/>
                <a:sym typeface="Geneva"/>
              </a:defRPr>
            </a:pPr>
            <a:r>
              <a:t>	•	Provide short, accurate summaries without losing meaning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000">
                <a:solidFill>
                  <a:srgbClr val="111111"/>
                </a:solidFill>
                <a:latin typeface="Geneva"/>
                <a:ea typeface="Geneva"/>
                <a:cs typeface="Geneva"/>
                <a:sym typeface="Geneva"/>
              </a:defRPr>
            </a:pPr>
            <a:r>
              <a:t>	•	Enable users to customize summary length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000">
                <a:solidFill>
                  <a:srgbClr val="111111"/>
                </a:solidFill>
                <a:latin typeface="Geneva"/>
                <a:ea typeface="Geneva"/>
                <a:cs typeface="Geneva"/>
                <a:sym typeface="Geneva"/>
              </a:defRPr>
            </a:pPr>
            <a:r>
              <a:t>	•	Offer a simple and user-friendly web interface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roposed Solution:…"/>
          <p:cNvSpPr txBox="1"/>
          <p:nvPr/>
        </p:nvSpPr>
        <p:spPr>
          <a:xfrm>
            <a:off x="505876" y="633857"/>
            <a:ext cx="14174283" cy="12448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000">
                <a:latin typeface="Futura Bold"/>
                <a:ea typeface="Futura Bold"/>
                <a:cs typeface="Futura Bold"/>
                <a:sym typeface="Futura Bold"/>
              </a:defRPr>
            </a:pPr>
            <a:r>
              <a:t>Proposed Solution:</a:t>
            </a:r>
          </a:p>
          <a:p>
            <a:pPr>
              <a:defRPr sz="3000"/>
            </a:pPr>
            <a:r>
              <a:t>SummAI is a web-based NLP system that:</a:t>
            </a:r>
          </a:p>
          <a:p>
            <a:pPr>
              <a:defRPr sz="3000"/>
            </a:pPr>
            <a:r>
              <a:t>	•Accepts business text as input</a:t>
            </a:r>
          </a:p>
          <a:p>
            <a:pPr>
              <a:defRPr sz="3000"/>
            </a:pPr>
            <a:r>
              <a:t>	•Applies extractive summarization</a:t>
            </a:r>
          </a:p>
          <a:p>
            <a:pPr>
              <a:defRPr sz="3000"/>
            </a:pPr>
            <a:r>
              <a:t>	•Generates concise summaries, keywords, and readability indicators</a:t>
            </a:r>
          </a:p>
          <a:p>
            <a:pPr>
              <a:defRPr sz="3000"/>
            </a:pPr>
            <a:r>
              <a:t>	•Displays analytics and insights interactively</a:t>
            </a:r>
          </a:p>
          <a:p>
            <a:pPr>
              <a:defRPr sz="3000">
                <a:latin typeface="Futura Bold"/>
                <a:ea typeface="Futura Bold"/>
                <a:cs typeface="Futura Bold"/>
                <a:sym typeface="Futura Bold"/>
              </a:defRPr>
            </a:pPr>
            <a:r>
              <a:t>Workflow:</a:t>
            </a:r>
          </a:p>
          <a:p>
            <a:pPr>
              <a:defRPr sz="3000"/>
            </a:pPr>
            <a:r>
              <a:t>	1.User inputs document</a:t>
            </a:r>
          </a:p>
          <a:p>
            <a:pPr>
              <a:defRPr sz="3000"/>
            </a:pPr>
            <a:r>
              <a:t>	2.System preprocesses text</a:t>
            </a:r>
          </a:p>
          <a:p>
            <a:pPr>
              <a:defRPr sz="3000"/>
            </a:pPr>
            <a:r>
              <a:t>	3.NLP pipeline scores sentences</a:t>
            </a:r>
          </a:p>
          <a:p>
            <a:pPr>
              <a:defRPr sz="3000"/>
            </a:pPr>
            <a:r>
              <a:t>	4.Top sentences selected as summary</a:t>
            </a:r>
          </a:p>
          <a:p>
            <a:pPr>
              <a:defRPr sz="3000"/>
            </a:pPr>
            <a:r>
              <a:t>	5.Keywords and readability metrics extracted</a:t>
            </a:r>
          </a:p>
          <a:p>
            <a:pPr>
              <a:defRPr sz="3000"/>
            </a:pPr>
            <a:r>
              <a:t>	6.Output displayed with analytics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Methodology…"/>
          <p:cNvSpPr txBox="1"/>
          <p:nvPr/>
        </p:nvSpPr>
        <p:spPr>
          <a:xfrm>
            <a:off x="1971756" y="2166382"/>
            <a:ext cx="9184608" cy="9383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latin typeface="Futura Bold"/>
                <a:ea typeface="Futura Bold"/>
                <a:cs typeface="Futura Bold"/>
                <a:sym typeface="Futura Bold"/>
              </a:defRPr>
            </a:pPr>
            <a:r>
              <a:t>Methodology</a:t>
            </a:r>
          </a:p>
          <a:p>
            <a:pPr/>
            <a:r>
              <a:t>	</a:t>
            </a:r>
            <a:r>
              <a:rPr sz="3000">
                <a:latin typeface="Geneva"/>
                <a:ea typeface="Geneva"/>
                <a:cs typeface="Geneva"/>
                <a:sym typeface="Geneva"/>
              </a:rPr>
              <a:t>•Text cleaning and preprocessing</a:t>
            </a:r>
            <a:endParaRPr sz="3000">
              <a:latin typeface="Geneva"/>
              <a:ea typeface="Geneva"/>
              <a:cs typeface="Geneva"/>
              <a:sym typeface="Geneva"/>
            </a:endParaRPr>
          </a:p>
          <a:p>
            <a:pPr>
              <a:defRPr sz="3000">
                <a:latin typeface="Geneva"/>
                <a:ea typeface="Geneva"/>
                <a:cs typeface="Geneva"/>
                <a:sym typeface="Geneva"/>
              </a:defRPr>
            </a:pPr>
            <a:r>
              <a:t>	•Stopword removal</a:t>
            </a:r>
          </a:p>
          <a:p>
            <a:pPr>
              <a:defRPr sz="3000">
                <a:latin typeface="Geneva"/>
                <a:ea typeface="Geneva"/>
                <a:cs typeface="Geneva"/>
                <a:sym typeface="Geneva"/>
              </a:defRPr>
            </a:pPr>
            <a:r>
              <a:t>	•Sentence tokenization</a:t>
            </a:r>
          </a:p>
          <a:p>
            <a:pPr>
              <a:defRPr sz="3000">
                <a:latin typeface="Geneva"/>
                <a:ea typeface="Geneva"/>
                <a:cs typeface="Geneva"/>
                <a:sym typeface="Geneva"/>
              </a:defRPr>
            </a:pPr>
            <a:r>
              <a:t>	•Frequency-based sentence scoring</a:t>
            </a:r>
          </a:p>
          <a:p>
            <a:pPr>
              <a:defRPr sz="3000">
                <a:latin typeface="Geneva"/>
                <a:ea typeface="Geneva"/>
                <a:cs typeface="Geneva"/>
                <a:sym typeface="Geneva"/>
              </a:defRPr>
            </a:pPr>
            <a:r>
              <a:t>	•Extractive summarization</a:t>
            </a:r>
          </a:p>
          <a:p>
            <a:pPr>
              <a:defRPr sz="3000">
                <a:latin typeface="Geneva"/>
                <a:ea typeface="Geneva"/>
                <a:cs typeface="Geneva"/>
                <a:sym typeface="Geneva"/>
              </a:defRPr>
            </a:pPr>
            <a:r>
              <a:t>	•Keyword extraction using TF-IDF</a:t>
            </a:r>
          </a:p>
          <a:p>
            <a:pPr>
              <a:defRPr sz="3000">
                <a:latin typeface="Geneva"/>
                <a:ea typeface="Geneva"/>
                <a:cs typeface="Geneva"/>
                <a:sym typeface="Geneva"/>
              </a:defRPr>
            </a:pPr>
            <a:r>
              <a:t>	•Readability assessment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chnologies Used…"/>
          <p:cNvSpPr txBox="1"/>
          <p:nvPr/>
        </p:nvSpPr>
        <p:spPr>
          <a:xfrm>
            <a:off x="2123010" y="1045699"/>
            <a:ext cx="6969192" cy="11624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500">
                <a:latin typeface="Futura Bold"/>
                <a:ea typeface="Futura Bold"/>
                <a:cs typeface="Futura Bold"/>
                <a:sym typeface="Futura Bold"/>
              </a:defRPr>
            </a:pPr>
            <a:r>
              <a:t>Technologies Used</a:t>
            </a:r>
          </a:p>
          <a:p>
            <a:pPr>
              <a:defRPr sz="3000">
                <a:latin typeface="Futura Bold"/>
                <a:ea typeface="Futura Bold"/>
                <a:cs typeface="Futura Bold"/>
                <a:sym typeface="Futura Bold"/>
              </a:defRPr>
            </a:pPr>
            <a:r>
              <a:t>Backend</a:t>
            </a:r>
          </a:p>
          <a:p>
            <a:pPr>
              <a:defRPr sz="3000"/>
            </a:pPr>
            <a:r>
              <a:t>	•Python</a:t>
            </a:r>
          </a:p>
          <a:p>
            <a:pPr>
              <a:defRPr sz="3000"/>
            </a:pPr>
            <a:r>
              <a:t>	•Flask</a:t>
            </a:r>
          </a:p>
          <a:p>
            <a:pPr>
              <a:defRPr sz="3000"/>
            </a:pPr>
            <a:r>
              <a:t>	•NLTK</a:t>
            </a:r>
          </a:p>
          <a:p>
            <a:pPr>
              <a:defRPr sz="3000">
                <a:latin typeface="Futura Bold"/>
                <a:ea typeface="Futura Bold"/>
                <a:cs typeface="Futura Bold"/>
                <a:sym typeface="Futura Bold"/>
              </a:defRPr>
            </a:pPr>
            <a:r>
              <a:t>Frontend</a:t>
            </a:r>
          </a:p>
          <a:p>
            <a:pPr>
              <a:defRPr sz="3000"/>
            </a:pPr>
            <a:r>
              <a:t>	•HTML5</a:t>
            </a:r>
          </a:p>
          <a:p>
            <a:pPr>
              <a:defRPr sz="3000"/>
            </a:pPr>
            <a:r>
              <a:t>	•CSS3</a:t>
            </a:r>
          </a:p>
          <a:p>
            <a:pPr>
              <a:defRPr sz="3000"/>
            </a:pPr>
            <a:r>
              <a:t>	•JavaScript</a:t>
            </a:r>
          </a:p>
          <a:p>
            <a:pPr>
              <a:defRPr sz="3000">
                <a:latin typeface="Futura Bold"/>
                <a:ea typeface="Futura Bold"/>
                <a:cs typeface="Futura Bold"/>
                <a:sym typeface="Futura Bold"/>
              </a:defRPr>
            </a:pPr>
            <a:r>
              <a:t>Data Storage</a:t>
            </a:r>
          </a:p>
          <a:p>
            <a:pPr>
              <a:defRPr sz="3000"/>
            </a:pPr>
            <a:r>
              <a:t>	•JSON (analytics tracking)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WhatsApp Image 2025-12-05 at 12.13.44.jpeg" descr="WhatsApp Image 2025-12-05 at 12.13.44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84101" y="7839212"/>
            <a:ext cx="12784362" cy="56570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7" name="pasted-movie.heic" descr="pasted-movie.heic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39696" y="1215036"/>
            <a:ext cx="12339349" cy="6385613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pasted-movie.heic" descr="pasted-movie.heic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881937" y="1324277"/>
            <a:ext cx="10100183" cy="8380304"/>
          </a:xfrm>
          <a:prstGeom prst="rect">
            <a:avLst/>
          </a:prstGeom>
          <a:ln w="12700">
            <a:miter lim="400000"/>
          </a:ln>
        </p:spPr>
      </p:pic>
      <p:sp>
        <p:nvSpPr>
          <p:cNvPr id="189" name="Results"/>
          <p:cNvSpPr txBox="1"/>
          <p:nvPr/>
        </p:nvSpPr>
        <p:spPr>
          <a:xfrm>
            <a:off x="857351" y="270860"/>
            <a:ext cx="2378965" cy="883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Futura Bold"/>
                <a:ea typeface="Futura Bold"/>
                <a:cs typeface="Futura Bold"/>
                <a:sym typeface="Futura Bold"/>
              </a:defRPr>
            </a:lvl1pPr>
          </a:lstStyle>
          <a:p>
            <a:pPr/>
            <a:r>
              <a:t>Results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Conclusion…"/>
          <p:cNvSpPr txBox="1"/>
          <p:nvPr/>
        </p:nvSpPr>
        <p:spPr>
          <a:xfrm>
            <a:off x="1182776" y="2452979"/>
            <a:ext cx="17439514" cy="88100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4000">
                <a:latin typeface="Futura Bold"/>
                <a:ea typeface="Futura Bold"/>
                <a:cs typeface="Futura Bold"/>
                <a:sym typeface="Futura Bold"/>
              </a:defRPr>
            </a:pPr>
            <a:r>
              <a:t>Conclusion</a:t>
            </a:r>
          </a:p>
          <a:p>
            <a:pPr>
              <a:defRPr sz="3000"/>
            </a:pPr>
            <a:r>
              <a:t>SummAI successfully delivers fast, accurate, and user-friendly summarization of business documents.</a:t>
            </a:r>
          </a:p>
          <a:p>
            <a:pPr>
              <a:defRPr sz="3000"/>
            </a:pPr>
            <a:r>
              <a:t>It improves productivity by reducing manual reading and extracting key insights automatically.</a:t>
            </a:r>
          </a:p>
          <a:p>
            <a:pPr>
              <a:defRPr sz="4000">
                <a:latin typeface="Futura Bold"/>
                <a:ea typeface="Futura Bold"/>
                <a:cs typeface="Futura Bold"/>
                <a:sym typeface="Futura Bold"/>
              </a:defRPr>
            </a:pPr>
            <a:r>
              <a:t>Future Scope</a:t>
            </a:r>
          </a:p>
          <a:p>
            <a:pPr>
              <a:defRPr sz="3000"/>
            </a:pPr>
            <a:r>
              <a:t>	•Support multilingual documents</a:t>
            </a:r>
          </a:p>
          <a:p>
            <a:pPr>
              <a:defRPr sz="3000"/>
            </a:pPr>
            <a:r>
              <a:t>	•AI-powered abstractive summarization</a:t>
            </a:r>
          </a:p>
          <a:p>
            <a:pPr>
              <a:defRPr sz="3000"/>
            </a:pPr>
            <a:r>
              <a:t>	•Integration with ERP/CRM tools</a:t>
            </a:r>
          </a:p>
          <a:p>
            <a:pPr>
              <a:defRPr sz="3000"/>
            </a:pPr>
            <a:r>
              <a:t>	•Voice-to-text summarization</a:t>
            </a:r>
          </a:p>
          <a:p>
            <a:pPr>
              <a:defRPr sz="3000"/>
            </a:pPr>
            <a:r>
              <a:t>	•Advanced business insight extraction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